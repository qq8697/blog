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5120640"/>
            <a:ext cx="45720" cy="45720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5440680"/>
            <a:ext cx="45720" cy="45720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5760720"/>
            <a:ext cx="45720" cy="45720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6080760"/>
            <a:ext cx="45720" cy="45720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468880" y="5120640"/>
            <a:ext cx="45720" cy="45720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468880" y="5440680"/>
            <a:ext cx="45720" cy="45720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468880" y="5760720"/>
            <a:ext cx="45720" cy="45720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468880" y="6080760"/>
            <a:ext cx="45720" cy="45720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023360" y="5120640"/>
            <a:ext cx="45720" cy="45720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023360" y="5440680"/>
            <a:ext cx="45720" cy="45720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023360" y="5760720"/>
            <a:ext cx="45720" cy="45720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023360" y="6080760"/>
            <a:ext cx="45720" cy="45720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5577840" y="5120640"/>
            <a:ext cx="45720" cy="45720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577840" y="5440680"/>
            <a:ext cx="45720" cy="45720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577840" y="5760720"/>
            <a:ext cx="45720" cy="45720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5577840" y="6080760"/>
            <a:ext cx="45720" cy="45720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132320" y="5120640"/>
            <a:ext cx="45720" cy="45720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132320" y="5440680"/>
            <a:ext cx="45720" cy="45720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132320" y="5760720"/>
            <a:ext cx="45720" cy="45720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132320" y="6080760"/>
            <a:ext cx="45720" cy="45720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686800" y="5120640"/>
            <a:ext cx="45720" cy="45720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686800" y="5440680"/>
            <a:ext cx="45720" cy="45720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8686800" y="5760720"/>
            <a:ext cx="45720" cy="45720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8686800" y="6080760"/>
            <a:ext cx="45720" cy="45720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0241280" y="5120640"/>
            <a:ext cx="45720" cy="45720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0241280" y="5440680"/>
            <a:ext cx="45720" cy="45720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0241280" y="5760720"/>
            <a:ext cx="45720" cy="45720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0241280" y="6080760"/>
            <a:ext cx="45720" cy="45720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822960" y="1828800"/>
            <a:ext cx="457200" cy="365760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/>
        </p:spPr>
      </p:sp>
      <p:sp>
        <p:nvSpPr>
          <p:cNvPr id="31" name="Shape 29"/>
          <p:cNvSpPr/>
          <p:nvPr/>
        </p:nvSpPr>
        <p:spPr>
          <a:xfrm>
            <a:off x="822960" y="2331720"/>
            <a:ext cx="457200" cy="36576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32" name="Shape 30"/>
          <p:cNvSpPr/>
          <p:nvPr/>
        </p:nvSpPr>
        <p:spPr>
          <a:xfrm>
            <a:off x="822960" y="2834640"/>
            <a:ext cx="457200" cy="365760"/>
          </a:xfrm>
          <a:prstGeom prst="roundRect">
            <a:avLst>
              <a:gd name="adj" fmla="val 20000"/>
            </a:avLst>
          </a:prstGeom>
          <a:solidFill>
            <a:srgbClr val="06B6D4"/>
          </a:solidFill>
          <a:ln/>
        </p:spPr>
      </p:sp>
      <p:sp>
        <p:nvSpPr>
          <p:cNvPr id="33" name="Text 31"/>
          <p:cNvSpPr/>
          <p:nvPr/>
        </p:nvSpPr>
        <p:spPr>
          <a:xfrm>
            <a:off x="1554480" y="1828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SECURITY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22960" y="27432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网络安全业务</a:t>
            </a:r>
            <a:endParaRPr lang="en-US" sz="6000" dirty="0"/>
          </a:p>
        </p:txBody>
      </p:sp>
      <p:sp>
        <p:nvSpPr>
          <p:cNvPr id="35" name="Text 33"/>
          <p:cNvSpPr/>
          <p:nvPr/>
        </p:nvSpPr>
        <p:spPr>
          <a:xfrm>
            <a:off x="822960" y="37947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快 速 入 门</a:t>
            </a:r>
            <a:endParaRPr lang="en-US" sz="4000" dirty="0"/>
          </a:p>
        </p:txBody>
      </p:sp>
      <p:sp>
        <p:nvSpPr>
          <p:cNvPr id="36" name="Text 34"/>
          <p:cNvSpPr/>
          <p:nvPr/>
        </p:nvSpPr>
        <p:spPr>
          <a:xfrm>
            <a:off x="822960" y="47091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攻防视角 · 流程拆解 · 业务全景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22960" y="5440680"/>
            <a:ext cx="201168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2960" y="5577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红队 · 蓝队 · 合规 · 开发安全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业务全景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网络安全业务四大板块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按视角划分：攻击、防御、合规管理、开发安全 — 覆盖安全业务全生命周期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267462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103120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EE2E2"/>
          </a:solidFill>
          <a:ln/>
        </p:spPr>
      </p:sp>
      <p:sp>
        <p:nvSpPr>
          <p:cNvPr id="7" name="Shape 5"/>
          <p:cNvSpPr/>
          <p:nvPr/>
        </p:nvSpPr>
        <p:spPr>
          <a:xfrm>
            <a:off x="932688" y="2258568"/>
            <a:ext cx="475488" cy="47548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932688" y="22585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971800"/>
            <a:ext cx="22174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攻击视角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3319272"/>
            <a:ext cx="22174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红队技术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3575304"/>
            <a:ext cx="22174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渗透测试 · 代码审计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漏洞挖掘 · 红蓝对抗 · 众测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451860" y="1874520"/>
            <a:ext cx="267462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80460" y="2103120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DBEAFE"/>
          </a:solidFill>
          <a:ln/>
        </p:spPr>
      </p:sp>
      <p:sp>
        <p:nvSpPr>
          <p:cNvPr id="14" name="Shape 12"/>
          <p:cNvSpPr/>
          <p:nvPr/>
        </p:nvSpPr>
        <p:spPr>
          <a:xfrm>
            <a:off x="3835908" y="2258568"/>
            <a:ext cx="475488" cy="47548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3835908" y="22585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680460" y="2971800"/>
            <a:ext cx="22174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防御视角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680460" y="3319272"/>
            <a:ext cx="22174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蓝队技术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80460" y="3575304"/>
            <a:ext cx="22174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运维 · 应急响应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威胁情报 · 日志/SIEM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4069080"/>
            <a:ext cx="267462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4297680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CFFAFE"/>
          </a:solidFill>
          <a:ln/>
        </p:spPr>
      </p:sp>
      <p:sp>
        <p:nvSpPr>
          <p:cNvPr id="21" name="Shape 19"/>
          <p:cNvSpPr/>
          <p:nvPr/>
        </p:nvSpPr>
        <p:spPr>
          <a:xfrm>
            <a:off x="932688" y="4453128"/>
            <a:ext cx="475488" cy="475488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22" name="Text 20"/>
          <p:cNvSpPr/>
          <p:nvPr/>
        </p:nvSpPr>
        <p:spPr>
          <a:xfrm>
            <a:off x="932688" y="4453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77240" y="5166360"/>
            <a:ext cx="22174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合规与管理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77240" y="5513832"/>
            <a:ext cx="22174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合规视角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77240" y="5769864"/>
            <a:ext cx="22174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等保测评 · 风险评估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安全咨询/方案设计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451860" y="4069080"/>
            <a:ext cx="267462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80460" y="4297680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DCFCE7"/>
          </a:solidFill>
          <a:ln/>
        </p:spPr>
      </p:sp>
      <p:sp>
        <p:nvSpPr>
          <p:cNvPr id="28" name="Shape 26"/>
          <p:cNvSpPr/>
          <p:nvPr/>
        </p:nvSpPr>
        <p:spPr>
          <a:xfrm>
            <a:off x="3835908" y="4453128"/>
            <a:ext cx="475488" cy="47548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9" name="Text 27"/>
          <p:cNvSpPr/>
          <p:nvPr/>
        </p:nvSpPr>
        <p:spPr>
          <a:xfrm>
            <a:off x="3835908" y="4453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680460" y="5166360"/>
            <a:ext cx="22174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开发安全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680460" y="5513832"/>
            <a:ext cx="22174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左移视角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680460" y="5769864"/>
            <a:ext cx="22174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 安全开发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自动化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355080" y="1874520"/>
            <a:ext cx="5287975" cy="4069080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34" name="Image 0" descr="D:\Programs\blog-source\source\images\Gemini_Generated_Image_xmrm6gxmrm6gxmr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92240" y="2011680"/>
            <a:ext cx="5013655" cy="3520440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6355080" y="5577840"/>
            <a:ext cx="52879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网络安全业务全景图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1091153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攻击视角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红队技术 — 主动发现并验证漏洞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4415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08760"/>
            <a:ext cx="3108960" cy="841248"/>
          </a:xfrm>
          <a:prstGeom prst="roundRect">
            <a:avLst>
              <a:gd name="adj" fmla="val 8696"/>
            </a:avLst>
          </a:prstGeom>
          <a:solidFill>
            <a:srgbClr val="FEE2E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08760"/>
            <a:ext cx="2743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渗透测试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886200" y="1508760"/>
            <a:ext cx="4663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模拟黑客攻击，对目标系统进行受控测试，发现并验证安全漏洞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459736"/>
            <a:ext cx="11094415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459736"/>
            <a:ext cx="3108960" cy="841248"/>
          </a:xfrm>
          <a:prstGeom prst="roundRect">
            <a:avLst>
              <a:gd name="adj" fmla="val 8696"/>
            </a:avLst>
          </a:prstGeom>
          <a:solidFill>
            <a:srgbClr val="FEE2E2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459736"/>
            <a:ext cx="2743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代码审计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886200" y="2459736"/>
            <a:ext cx="4663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审查源代码中的安全缺陷（SQL注入、XSS、反序列化等），白盒视角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410712"/>
            <a:ext cx="11094415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410712"/>
            <a:ext cx="3108960" cy="841248"/>
          </a:xfrm>
          <a:prstGeom prst="roundRect">
            <a:avLst>
              <a:gd name="adj" fmla="val 8696"/>
            </a:avLst>
          </a:prstGeom>
          <a:solidFill>
            <a:srgbClr val="FEE2E2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410712"/>
            <a:ext cx="2743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漏洞挖掘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886200" y="3410712"/>
            <a:ext cx="4663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研究软件/系统，发现未知漏洞（0day），聚焦前沿攻防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361688"/>
            <a:ext cx="11094415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361688"/>
            <a:ext cx="3108960" cy="841248"/>
          </a:xfrm>
          <a:prstGeom prst="roundRect">
            <a:avLst>
              <a:gd name="adj" fmla="val 8696"/>
            </a:avLst>
          </a:prstGeom>
          <a:solidFill>
            <a:srgbClr val="FEE2E2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361688"/>
            <a:ext cx="2743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红蓝对抗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886200" y="4361688"/>
            <a:ext cx="4663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渗透测试的升级版，模拟真实 APT 攻击，实战化演练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312664"/>
            <a:ext cx="11094415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5312664"/>
            <a:ext cx="3108960" cy="841248"/>
          </a:xfrm>
          <a:prstGeom prst="roundRect">
            <a:avLst>
              <a:gd name="adj" fmla="val 8696"/>
            </a:avLst>
          </a:prstGeom>
          <a:solidFill>
            <a:srgbClr val="FEE2E2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312664"/>
            <a:ext cx="2743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安全众测/Bug Bounty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886200" y="5312664"/>
            <a:ext cx="4663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通过众包平台邀请白帽子对产品进行测试，按漏洞付费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91153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防御 / 合规 / 开发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蓝队、合规管理与开发安全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03708" y="1417320"/>
            <a:ext cx="3611880" cy="466344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78028" y="1691640"/>
            <a:ext cx="3063240" cy="502920"/>
          </a:xfrm>
          <a:prstGeom prst="roundRect">
            <a:avLst>
              <a:gd name="adj" fmla="val 18182"/>
            </a:avLst>
          </a:prstGeom>
          <a:solidFill>
            <a:srgbClr val="DBEAFE"/>
          </a:solidFill>
          <a:ln/>
        </p:spPr>
      </p:sp>
      <p:sp>
        <p:nvSpPr>
          <p:cNvPr id="6" name="Text 4"/>
          <p:cNvSpPr/>
          <p:nvPr/>
        </p:nvSpPr>
        <p:spPr>
          <a:xfrm>
            <a:off x="678028" y="16916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防御视角 · 蓝队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78028" y="237744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安全运维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78028" y="267004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7×24 监控日志、告警分析、日常巡检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78028" y="329184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应急响应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78028" y="358444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事件后止损、根除、溯源、恢复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78028" y="420624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威胁情报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78028" y="449884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收集分析攻击者 TTPs、IOC 预警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78028" y="512064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日志/SIEM/态势感知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78028" y="541324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大数据+规则引擎发现异常行为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89908" y="1417320"/>
            <a:ext cx="3611880" cy="466344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64228" y="1691640"/>
            <a:ext cx="3063240" cy="502920"/>
          </a:xfrm>
          <a:prstGeom prst="roundRect">
            <a:avLst>
              <a:gd name="adj" fmla="val 18182"/>
            </a:avLst>
          </a:prstGeom>
          <a:solidFill>
            <a:srgbClr val="CFFAFE"/>
          </a:solidFill>
          <a:ln/>
        </p:spPr>
      </p:sp>
      <p:sp>
        <p:nvSpPr>
          <p:cNvPr id="17" name="Text 15"/>
          <p:cNvSpPr/>
          <p:nvPr/>
        </p:nvSpPr>
        <p:spPr>
          <a:xfrm>
            <a:off x="4564228" y="16916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合规与管理视角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64228" y="237744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等保测评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64228" y="267004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网络安全等级保护测评，国家合规要求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64228" y="329184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风险评估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64228" y="358444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识别资产→分析威胁→评估脆弱性→计算风险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64228" y="420624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安全咨询/方案设计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64228" y="449884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设计安全架构、制定安全策略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76108" y="1417320"/>
            <a:ext cx="3611880" cy="466344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450428" y="1691640"/>
            <a:ext cx="3063240" cy="502920"/>
          </a:xfrm>
          <a:prstGeom prst="roundRect">
            <a:avLst>
              <a:gd name="adj" fmla="val 18182"/>
            </a:avLst>
          </a:prstGeom>
          <a:solidFill>
            <a:srgbClr val="DCFCE7"/>
          </a:solidFill>
          <a:ln/>
        </p:spPr>
      </p:sp>
      <p:sp>
        <p:nvSpPr>
          <p:cNvPr id="26" name="Text 24"/>
          <p:cNvSpPr/>
          <p:nvPr/>
        </p:nvSpPr>
        <p:spPr>
          <a:xfrm>
            <a:off x="8450428" y="16916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开发安全视角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450428" y="237744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 / 安全开发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450428" y="267004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在软件开发生命周期每个阶段嵌入安全活动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450428" y="329184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450428" y="358444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将安全自动化融入 CI/CD 流水线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91153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渗透测试流程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PTES 标准 — 7 大阶段（通常 1~4 周）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86588" y="2194560"/>
            <a:ext cx="1417320" cy="1371600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/>
        </p:spPr>
      </p:sp>
      <p:sp>
        <p:nvSpPr>
          <p:cNvPr id="5" name="Text 3"/>
          <p:cNvSpPr/>
          <p:nvPr/>
        </p:nvSpPr>
        <p:spPr>
          <a:xfrm>
            <a:off x="586588" y="235915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86588" y="29718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前期交互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 rot="5400000">
            <a:off x="2022196" y="2743200"/>
            <a:ext cx="146304" cy="274320"/>
          </a:xfrm>
          <a:prstGeom prst="rtTriangle">
            <a:avLst/>
          </a:prstGeom>
          <a:solidFill>
            <a:srgbClr val="94A3B8"/>
          </a:solidFill>
          <a:ln/>
        </p:spPr>
      </p:sp>
      <p:sp>
        <p:nvSpPr>
          <p:cNvPr id="8" name="Shape 6"/>
          <p:cNvSpPr/>
          <p:nvPr/>
        </p:nvSpPr>
        <p:spPr>
          <a:xfrm>
            <a:off x="2186788" y="2194560"/>
            <a:ext cx="1417320" cy="137160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/>
        </p:spPr>
      </p:sp>
      <p:sp>
        <p:nvSpPr>
          <p:cNvPr id="9" name="Text 7"/>
          <p:cNvSpPr/>
          <p:nvPr/>
        </p:nvSpPr>
        <p:spPr>
          <a:xfrm>
            <a:off x="2186788" y="235915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186788" y="29718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信息收集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 rot="5400000">
            <a:off x="3622396" y="2743200"/>
            <a:ext cx="146304" cy="274320"/>
          </a:xfrm>
          <a:prstGeom prst="rtTriangle">
            <a:avLst/>
          </a:prstGeom>
          <a:solidFill>
            <a:srgbClr val="94A3B8"/>
          </a:solidFill>
          <a:ln/>
        </p:spPr>
      </p:sp>
      <p:sp>
        <p:nvSpPr>
          <p:cNvPr id="12" name="Shape 10"/>
          <p:cNvSpPr/>
          <p:nvPr/>
        </p:nvSpPr>
        <p:spPr>
          <a:xfrm>
            <a:off x="3786988" y="2194560"/>
            <a:ext cx="1417320" cy="1371600"/>
          </a:xfrm>
          <a:prstGeom prst="roundRect">
            <a:avLst>
              <a:gd name="adj" fmla="val 8000"/>
            </a:avLst>
          </a:prstGeom>
          <a:solidFill>
            <a:srgbClr val="06B6D4"/>
          </a:solidFill>
          <a:ln/>
        </p:spPr>
      </p:sp>
      <p:sp>
        <p:nvSpPr>
          <p:cNvPr id="13" name="Text 11"/>
          <p:cNvSpPr/>
          <p:nvPr/>
        </p:nvSpPr>
        <p:spPr>
          <a:xfrm>
            <a:off x="3786988" y="235915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786988" y="29718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威胁建模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 rot="5400000">
            <a:off x="5222596" y="2743200"/>
            <a:ext cx="146304" cy="274320"/>
          </a:xfrm>
          <a:prstGeom prst="rtTriangle">
            <a:avLst/>
          </a:prstGeom>
          <a:solidFill>
            <a:srgbClr val="94A3B8"/>
          </a:solidFill>
          <a:ln/>
        </p:spPr>
      </p:sp>
      <p:sp>
        <p:nvSpPr>
          <p:cNvPr id="16" name="Shape 14"/>
          <p:cNvSpPr/>
          <p:nvPr/>
        </p:nvSpPr>
        <p:spPr>
          <a:xfrm>
            <a:off x="5387188" y="2194560"/>
            <a:ext cx="1417320" cy="13716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5387188" y="235915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387188" y="29718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漏洞分析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 rot="5400000">
            <a:off x="6822796" y="2743200"/>
            <a:ext cx="146304" cy="274320"/>
          </a:xfrm>
          <a:prstGeom prst="rtTriangle">
            <a:avLst/>
          </a:prstGeom>
          <a:solidFill>
            <a:srgbClr val="94A3B8"/>
          </a:solidFill>
          <a:ln/>
        </p:spPr>
      </p:sp>
      <p:sp>
        <p:nvSpPr>
          <p:cNvPr id="20" name="Shape 18"/>
          <p:cNvSpPr/>
          <p:nvPr/>
        </p:nvSpPr>
        <p:spPr>
          <a:xfrm>
            <a:off x="6987388" y="2194560"/>
            <a:ext cx="1417320" cy="1371600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/>
        </p:spPr>
      </p:sp>
      <p:sp>
        <p:nvSpPr>
          <p:cNvPr id="21" name="Text 19"/>
          <p:cNvSpPr/>
          <p:nvPr/>
        </p:nvSpPr>
        <p:spPr>
          <a:xfrm>
            <a:off x="6987388" y="235915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987388" y="29718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渗透攻击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 rot="5400000">
            <a:off x="8422996" y="2743200"/>
            <a:ext cx="146304" cy="274320"/>
          </a:xfrm>
          <a:prstGeom prst="rtTriangle">
            <a:avLst/>
          </a:prstGeom>
          <a:solidFill>
            <a:srgbClr val="94A3B8"/>
          </a:solidFill>
          <a:ln/>
        </p:spPr>
      </p:sp>
      <p:sp>
        <p:nvSpPr>
          <p:cNvPr id="24" name="Shape 22"/>
          <p:cNvSpPr/>
          <p:nvPr/>
        </p:nvSpPr>
        <p:spPr>
          <a:xfrm>
            <a:off x="8587588" y="2194560"/>
            <a:ext cx="1417320" cy="137160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/>
        </p:spPr>
      </p:sp>
      <p:sp>
        <p:nvSpPr>
          <p:cNvPr id="25" name="Text 23"/>
          <p:cNvSpPr/>
          <p:nvPr/>
        </p:nvSpPr>
        <p:spPr>
          <a:xfrm>
            <a:off x="8587588" y="235915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8587588" y="29718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后渗透利用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 rot="5400000">
            <a:off x="10023196" y="2743200"/>
            <a:ext cx="146304" cy="274320"/>
          </a:xfrm>
          <a:prstGeom prst="rtTriangle">
            <a:avLst/>
          </a:prstGeom>
          <a:solidFill>
            <a:srgbClr val="94A3B8"/>
          </a:solidFill>
          <a:ln/>
        </p:spPr>
      </p:sp>
      <p:sp>
        <p:nvSpPr>
          <p:cNvPr id="28" name="Shape 26"/>
          <p:cNvSpPr/>
          <p:nvPr/>
        </p:nvSpPr>
        <p:spPr>
          <a:xfrm>
            <a:off x="10187788" y="2194560"/>
            <a:ext cx="1417320" cy="1371600"/>
          </a:xfrm>
          <a:prstGeom prst="roundRect">
            <a:avLst>
              <a:gd name="adj" fmla="val 8000"/>
            </a:avLst>
          </a:prstGeom>
          <a:solidFill>
            <a:srgbClr val="16A34A"/>
          </a:solidFill>
          <a:ln/>
        </p:spPr>
      </p:sp>
      <p:sp>
        <p:nvSpPr>
          <p:cNvPr id="29" name="Text 27"/>
          <p:cNvSpPr/>
          <p:nvPr/>
        </p:nvSpPr>
        <p:spPr>
          <a:xfrm>
            <a:off x="10187788" y="235915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10187788" y="29718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报告撰写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86588" y="3977640"/>
            <a:ext cx="4617720" cy="457200"/>
          </a:xfrm>
          <a:prstGeom prst="roundRect">
            <a:avLst>
              <a:gd name="adj" fmla="val 16000"/>
            </a:avLst>
          </a:prstGeom>
          <a:solidFill>
            <a:srgbClr val="FEE2E2"/>
          </a:solidFill>
          <a:ln/>
        </p:spPr>
      </p:sp>
      <p:sp>
        <p:nvSpPr>
          <p:cNvPr id="32" name="Text 30"/>
          <p:cNvSpPr/>
          <p:nvPr/>
        </p:nvSpPr>
        <p:spPr>
          <a:xfrm>
            <a:off x="586588" y="397764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准备与侦察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387188" y="3977640"/>
            <a:ext cx="4617720" cy="457200"/>
          </a:xfrm>
          <a:prstGeom prst="roundRect">
            <a:avLst>
              <a:gd name="adj" fmla="val 16000"/>
            </a:avLst>
          </a:prstGeom>
          <a:solidFill>
            <a:srgbClr val="DBEAFE"/>
          </a:solidFill>
          <a:ln/>
        </p:spPr>
      </p:sp>
      <p:sp>
        <p:nvSpPr>
          <p:cNvPr id="34" name="Text 32"/>
          <p:cNvSpPr/>
          <p:nvPr/>
        </p:nvSpPr>
        <p:spPr>
          <a:xfrm>
            <a:off x="5387188" y="397764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分析与突破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0187788" y="3977640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DCFCE7"/>
          </a:solidFill>
          <a:ln/>
        </p:spPr>
      </p:sp>
      <p:sp>
        <p:nvSpPr>
          <p:cNvPr id="36" name="Text 34"/>
          <p:cNvSpPr/>
          <p:nvPr/>
        </p:nvSpPr>
        <p:spPr>
          <a:xfrm>
            <a:off x="10187788" y="39776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交付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48640" y="4846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前期交互 → 信息收集 → 威胁建模 → 漏洞分析 → 渗透攻击 → 后渗透利用 → 报告撰写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22960" y="534924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前期交互明确边界签授权；信息收集扩大攻击面；威胁建模规划路径；漏洞分析自动化+手工验证；渗透攻击获取初始权限；后渗透扩大战果提权；报告转化为可落地方案。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091153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04.1 · 渗透测试 / 阶段一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前期交互 — 明确边界，签授权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目标：明确测试边界，白纸黑字签授权。「合法渗透」与「非法入侵」的分界线。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45576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103120"/>
            <a:ext cx="411480" cy="41148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03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5880" y="2075688"/>
            <a:ext cx="444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确定测试范围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06040"/>
            <a:ext cx="4907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哪些 IP 段、域名、子网、外网/内网？哪些系统、API、APP？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87288" y="1874520"/>
            <a:ext cx="545576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15888" y="2103120"/>
            <a:ext cx="411480" cy="41148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6415888" y="2103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964528" y="2075688"/>
            <a:ext cx="444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确定测试规则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61608" y="2606040"/>
            <a:ext cx="4907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测试时间窗口（避开业务高峰）、是否允许提权、能否改/传数据、能否社工钓鱼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429000"/>
            <a:ext cx="545576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3657600"/>
            <a:ext cx="411480" cy="41148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657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25880" y="3630168"/>
            <a:ext cx="444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确定测试类型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4160520"/>
            <a:ext cx="4907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黑盒（零知识，模拟外部攻击）、白盒（全知识，内部审计）、灰盒（部分知识，最常见）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87288" y="3429000"/>
            <a:ext cx="545576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15888" y="3657600"/>
            <a:ext cx="411480" cy="41148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2" name="Text 20"/>
          <p:cNvSpPr/>
          <p:nvPr/>
        </p:nvSpPr>
        <p:spPr>
          <a:xfrm>
            <a:off x="6415888" y="3657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64528" y="3630168"/>
            <a:ext cx="444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签署授权书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61608" y="4160520"/>
            <a:ext cx="4907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法律保障 —— 这是合法与非法的分界线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4983480"/>
            <a:ext cx="545576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77240" y="5212080"/>
            <a:ext cx="411480" cy="41148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5212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325880" y="5184648"/>
            <a:ext cx="444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确认联系人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22960" y="5715000"/>
            <a:ext cx="4907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小时紧急联系方式 —— 一旦搞出故障能立刻沟通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091153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04.2 · 渗透测试 / 阶段二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信息收集 — 被动收集（不接触目标）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目标：尽可能多获取目标信息，攻击面越大成功率越高。被动收集利用公开资源，不留痕迹。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094415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28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WHOIS 查询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108960" y="182880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域名注册信息、注册邮箱、DNS 服务器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082735" y="1883664"/>
            <a:ext cx="2331720" cy="347472"/>
          </a:xfrm>
          <a:prstGeom prst="roundRect">
            <a:avLst>
              <a:gd name="adj" fmla="val 15789"/>
            </a:avLst>
          </a:prstGeom>
          <a:solidFill>
            <a:srgbClr val="FEE2E2"/>
          </a:solidFill>
          <a:ln/>
        </p:spPr>
      </p:sp>
      <p:sp>
        <p:nvSpPr>
          <p:cNvPr id="9" name="Text 7"/>
          <p:cNvSpPr/>
          <p:nvPr/>
        </p:nvSpPr>
        <p:spPr>
          <a:xfrm>
            <a:off x="9082735" y="18288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whois / 站长工具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" y="2359152"/>
            <a:ext cx="11094415" cy="4572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35915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信息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108960" y="2359152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A/CNAME/MX/TXT/NS 记录，发现关联域名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082735" y="2414016"/>
            <a:ext cx="2331720" cy="347472"/>
          </a:xfrm>
          <a:prstGeom prst="roundRect">
            <a:avLst>
              <a:gd name="adj" fmla="val 15789"/>
            </a:avLst>
          </a:prstGeom>
          <a:solidFill>
            <a:srgbClr val="FEE2E2"/>
          </a:solidFill>
          <a:ln/>
        </p:spPr>
      </p:sp>
      <p:sp>
        <p:nvSpPr>
          <p:cNvPr id="14" name="Text 12"/>
          <p:cNvSpPr/>
          <p:nvPr/>
        </p:nvSpPr>
        <p:spPr>
          <a:xfrm>
            <a:off x="9082735" y="235915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dig, nslookup, dnsdumpster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8640" y="2889504"/>
            <a:ext cx="11094415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288950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子域名挖掘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108960" y="2889504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爆破二/三级域名，证书透明度 CT 日志查询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082735" y="2944368"/>
            <a:ext cx="2331720" cy="347472"/>
          </a:xfrm>
          <a:prstGeom prst="roundRect">
            <a:avLst>
              <a:gd name="adj" fmla="val 15789"/>
            </a:avLst>
          </a:prstGeom>
          <a:solidFill>
            <a:srgbClr val="FEE2E2"/>
          </a:solidFill>
          <a:ln/>
        </p:spPr>
      </p:sp>
      <p:sp>
        <p:nvSpPr>
          <p:cNvPr id="19" name="Text 17"/>
          <p:cNvSpPr/>
          <p:nvPr/>
        </p:nvSpPr>
        <p:spPr>
          <a:xfrm>
            <a:off x="9082735" y="2889504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Subfinder, OneForAll, crt.sh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3419856"/>
            <a:ext cx="11094415" cy="4572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41985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搜索引擎侦查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108960" y="3419856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Hacking，GitHub 搜寻泄露密码/配置/源码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082735" y="3474720"/>
            <a:ext cx="2331720" cy="347472"/>
          </a:xfrm>
          <a:prstGeom prst="roundRect">
            <a:avLst>
              <a:gd name="adj" fmla="val 15789"/>
            </a:avLst>
          </a:prstGeom>
          <a:solidFill>
            <a:srgbClr val="FEE2E2"/>
          </a:solidFill>
          <a:ln/>
        </p:spPr>
      </p:sp>
      <p:sp>
        <p:nvSpPr>
          <p:cNvPr id="24" name="Text 22"/>
          <p:cNvSpPr/>
          <p:nvPr/>
        </p:nvSpPr>
        <p:spPr>
          <a:xfrm>
            <a:off x="9082735" y="3419856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Google Dork, GitHub Search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8640" y="3950208"/>
            <a:ext cx="11094415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395020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网络空间测绘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108960" y="3950208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在互联网资产搜索引擎中检索暴露面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082735" y="4005072"/>
            <a:ext cx="2331720" cy="347472"/>
          </a:xfrm>
          <a:prstGeom prst="roundRect">
            <a:avLst>
              <a:gd name="adj" fmla="val 15789"/>
            </a:avLst>
          </a:prstGeom>
          <a:solidFill>
            <a:srgbClr val="FEE2E2"/>
          </a:solidFill>
          <a:ln/>
        </p:spPr>
      </p:sp>
      <p:sp>
        <p:nvSpPr>
          <p:cNvPr id="29" name="Text 27"/>
          <p:cNvSpPr/>
          <p:nvPr/>
        </p:nvSpPr>
        <p:spPr>
          <a:xfrm>
            <a:off x="9082735" y="395020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Shodan, Fofa, ZoomEye, Censys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48640" y="4480560"/>
            <a:ext cx="11094415" cy="4572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4480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社工信息收集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108960" y="448056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领英/脉脉查员工，天眼查/企查查查企业架构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082735" y="4535424"/>
            <a:ext cx="2331720" cy="347472"/>
          </a:xfrm>
          <a:prstGeom prst="roundRect">
            <a:avLst>
              <a:gd name="adj" fmla="val 15789"/>
            </a:avLst>
          </a:prstGeom>
          <a:solidFill>
            <a:srgbClr val="FEE2E2"/>
          </a:solidFill>
          <a:ln/>
        </p:spPr>
      </p:sp>
      <p:sp>
        <p:nvSpPr>
          <p:cNvPr id="34" name="Text 32"/>
          <p:cNvSpPr/>
          <p:nvPr/>
        </p:nvSpPr>
        <p:spPr>
          <a:xfrm>
            <a:off x="9082735" y="44805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社交媒体 / 企业信息平台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48640" y="5010912"/>
            <a:ext cx="11094415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501091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历史数据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108960" y="5010912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Wayback Machine 历史页面、历史漏洞公告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9082735" y="5065776"/>
            <a:ext cx="2331720" cy="347472"/>
          </a:xfrm>
          <a:prstGeom prst="roundRect">
            <a:avLst>
              <a:gd name="adj" fmla="val 15789"/>
            </a:avLst>
          </a:prstGeom>
          <a:solidFill>
            <a:srgbClr val="FEE2E2"/>
          </a:solidFill>
          <a:ln/>
        </p:spPr>
      </p:sp>
      <p:sp>
        <p:nvSpPr>
          <p:cNvPr id="39" name="Text 37"/>
          <p:cNvSpPr/>
          <p:nvPr/>
        </p:nvSpPr>
        <p:spPr>
          <a:xfrm>
            <a:off x="9082735" y="501091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archive.org, exploit-db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48640" y="5541264"/>
            <a:ext cx="11094415" cy="4572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" y="554126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JS/前端信息泄露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108960" y="5541264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 JS 提取 API 端点、隐藏路径、AccessKey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9082735" y="5596128"/>
            <a:ext cx="2331720" cy="347472"/>
          </a:xfrm>
          <a:prstGeom prst="roundRect">
            <a:avLst>
              <a:gd name="adj" fmla="val 15789"/>
            </a:avLst>
          </a:prstGeom>
          <a:solidFill>
            <a:srgbClr val="FEE2E2"/>
          </a:solidFill>
          <a:ln/>
        </p:spPr>
      </p:sp>
      <p:sp>
        <p:nvSpPr>
          <p:cNvPr id="44" name="Text 42"/>
          <p:cNvSpPr/>
          <p:nvPr/>
        </p:nvSpPr>
        <p:spPr>
          <a:xfrm>
            <a:off x="9082735" y="5541264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LinkFinder, JSFinder, 手工审查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1091153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04.2 · 渗透测试 / 阶段二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信息收集 — 主动收集（直接交互，留痕）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4415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087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主机发现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108960" y="150876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探测哪些 IP 存活（ICMP/ARP/TCP ACK）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9082735" y="1591056"/>
            <a:ext cx="2331720" cy="384048"/>
          </a:xfrm>
          <a:prstGeom prst="roundRect">
            <a:avLst>
              <a:gd name="adj" fmla="val 14286"/>
            </a:avLst>
          </a:prstGeom>
          <a:solidFill>
            <a:srgbClr val="FEE2E2"/>
          </a:solidFill>
          <a:ln/>
        </p:spPr>
      </p:sp>
      <p:sp>
        <p:nvSpPr>
          <p:cNvPr id="8" name="Text 6"/>
          <p:cNvSpPr/>
          <p:nvPr/>
        </p:nvSpPr>
        <p:spPr>
          <a:xfrm>
            <a:off x="9082735" y="15087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Nmap -sn, fping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167128"/>
            <a:ext cx="11094415" cy="54864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16712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端口扫描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08960" y="2167128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扫描开放端口识别服务（SYN 隐蔽/Connect 稳定）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082735" y="2249424"/>
            <a:ext cx="2331720" cy="384048"/>
          </a:xfrm>
          <a:prstGeom prst="roundRect">
            <a:avLst>
              <a:gd name="adj" fmla="val 14286"/>
            </a:avLst>
          </a:prstGeom>
          <a:solidFill>
            <a:srgbClr val="FEE2E2"/>
          </a:solidFill>
          <a:ln/>
        </p:spPr>
      </p:sp>
      <p:sp>
        <p:nvSpPr>
          <p:cNvPr id="13" name="Text 11"/>
          <p:cNvSpPr/>
          <p:nvPr/>
        </p:nvSpPr>
        <p:spPr>
          <a:xfrm>
            <a:off x="9082735" y="216712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Nmap -sS/sT, Masscan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825496"/>
            <a:ext cx="11094415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82549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服务/版本识别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108960" y="2825496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识别端口上运行的具体服务及版本号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082735" y="2907792"/>
            <a:ext cx="2331720" cy="384048"/>
          </a:xfrm>
          <a:prstGeom prst="roundRect">
            <a:avLst>
              <a:gd name="adj" fmla="val 14286"/>
            </a:avLst>
          </a:prstGeom>
          <a:solidFill>
            <a:srgbClr val="FEE2E2"/>
          </a:solidFill>
          <a:ln/>
        </p:spPr>
      </p:sp>
      <p:sp>
        <p:nvSpPr>
          <p:cNvPr id="18" name="Text 16"/>
          <p:cNvSpPr/>
          <p:nvPr/>
        </p:nvSpPr>
        <p:spPr>
          <a:xfrm>
            <a:off x="9082735" y="2825496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Nmap -sV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483864"/>
            <a:ext cx="11094415" cy="54864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48386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操作系统识别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108960" y="3483864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通过 TCP/IP 协议栈指纹判断 OS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082735" y="3566160"/>
            <a:ext cx="2331720" cy="384048"/>
          </a:xfrm>
          <a:prstGeom prst="roundRect">
            <a:avLst>
              <a:gd name="adj" fmla="val 14286"/>
            </a:avLst>
          </a:prstGeom>
          <a:solidFill>
            <a:srgbClr val="FEE2E2"/>
          </a:solidFill>
          <a:ln/>
        </p:spPr>
      </p:sp>
      <p:sp>
        <p:nvSpPr>
          <p:cNvPr id="23" name="Text 21"/>
          <p:cNvSpPr/>
          <p:nvPr/>
        </p:nvSpPr>
        <p:spPr>
          <a:xfrm>
            <a:off x="9082735" y="3483864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Nmap -O, p0f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4142232"/>
            <a:ext cx="11094415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414223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指纹识别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108960" y="4142232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CMS、Web 框架、中间件识别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9082735" y="4224528"/>
            <a:ext cx="2331720" cy="384048"/>
          </a:xfrm>
          <a:prstGeom prst="roundRect">
            <a:avLst>
              <a:gd name="adj" fmla="val 14286"/>
            </a:avLst>
          </a:prstGeom>
          <a:solidFill>
            <a:srgbClr val="FEE2E2"/>
          </a:solidFill>
          <a:ln/>
        </p:spPr>
      </p:sp>
      <p:sp>
        <p:nvSpPr>
          <p:cNvPr id="28" name="Text 26"/>
          <p:cNvSpPr/>
          <p:nvPr/>
        </p:nvSpPr>
        <p:spPr>
          <a:xfrm>
            <a:off x="9082735" y="414223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WhatWeb, Wappalyzer, EHole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4800600"/>
            <a:ext cx="11094415" cy="54864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48006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目录/文件扫描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108960" y="4800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扫描后台入口、备份/配置文件、.git 泄露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9082735" y="4882896"/>
            <a:ext cx="2331720" cy="384048"/>
          </a:xfrm>
          <a:prstGeom prst="roundRect">
            <a:avLst>
              <a:gd name="adj" fmla="val 14286"/>
            </a:avLst>
          </a:prstGeom>
          <a:solidFill>
            <a:srgbClr val="FEE2E2"/>
          </a:solidFill>
          <a:ln/>
        </p:spPr>
      </p:sp>
      <p:sp>
        <p:nvSpPr>
          <p:cNvPr id="33" name="Text 31"/>
          <p:cNvSpPr/>
          <p:nvPr/>
        </p:nvSpPr>
        <p:spPr>
          <a:xfrm>
            <a:off x="9082735" y="48006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dirsearch, gobuster, ffuf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" y="5458968"/>
            <a:ext cx="11094415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1520" y="545896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 识别与绕过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108960" y="5458968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判断是否用 CDN，多地 Ping/DNS 历史找真实 IP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9082735" y="5541264"/>
            <a:ext cx="2331720" cy="384048"/>
          </a:xfrm>
          <a:prstGeom prst="roundRect">
            <a:avLst>
              <a:gd name="adj" fmla="val 14286"/>
            </a:avLst>
          </a:prstGeom>
          <a:solidFill>
            <a:srgbClr val="FEE2E2"/>
          </a:solidFill>
          <a:ln/>
        </p:spPr>
      </p:sp>
      <p:sp>
        <p:nvSpPr>
          <p:cNvPr id="38" name="Text 36"/>
          <p:cNvSpPr/>
          <p:nvPr/>
        </p:nvSpPr>
        <p:spPr>
          <a:xfrm>
            <a:off x="9082735" y="545896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多地 Ping, DNSDB, 证书查询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48640" y="61264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常见产出物：资产清单（IP/域名/端口）、网络拓扑草图、Web 站点列表、员工邮箱列表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091153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04.3 · 渗透测试 / 阶段三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威胁建模 — 确定从哪里下手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目标：基于收集到的信息，分析可能的攻击面，规划攻击路径。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45576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103120"/>
            <a:ext cx="411480" cy="41148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03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5880" y="2075688"/>
            <a:ext cx="444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攻击面分析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06040"/>
            <a:ext cx="4907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哪些端口暴露在外？哪些服务有公开漏洞？哪些 Web 入口可控？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87288" y="1874520"/>
            <a:ext cx="545576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15888" y="2103120"/>
            <a:ext cx="411480" cy="41148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6415888" y="2103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964528" y="2075688"/>
            <a:ext cx="444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业务逻辑分析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61608" y="2606040"/>
            <a:ext cx="4907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应用有哪些功能模块（登录/注册/上传/支付等），每个功能点可能存在什么安全问题？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429000"/>
            <a:ext cx="545576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3657600"/>
            <a:ext cx="411480" cy="41148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657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25880" y="3630168"/>
            <a:ext cx="444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权限边界分析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4160520"/>
            <a:ext cx="4907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内网/外网边界在哪？DMZ 区与核心区的网络隔离情况？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87288" y="3429000"/>
            <a:ext cx="545576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15888" y="3657600"/>
            <a:ext cx="411480" cy="41148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2" name="Text 20"/>
          <p:cNvSpPr/>
          <p:nvPr/>
        </p:nvSpPr>
        <p:spPr>
          <a:xfrm>
            <a:off x="6415888" y="3657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64528" y="3630168"/>
            <a:ext cx="444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攻击路径规划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61608" y="4160520"/>
            <a:ext cx="4907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画出一到多条攻击链：入口点 → 初始突破 → 提权 → 横向移动 → 抵达核心目标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091153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04.4 · 渗透测试 / 阶段四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漏洞分析 — 自动化 + 手工结合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目标：自动化+手工结合，发现系统存在的安全漏洞。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7452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漏洞扫描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926080" y="1874520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全量自动化扫描，发现已知漏洞（CVE、弱口令、配置缺陷）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9265615" y="1956816"/>
            <a:ext cx="2148840" cy="402336"/>
          </a:xfrm>
          <a:prstGeom prst="roundRect">
            <a:avLst>
              <a:gd name="adj" fmla="val 13636"/>
            </a:avLst>
          </a:prstGeom>
          <a:solidFill>
            <a:srgbClr val="DBEAFE"/>
          </a:solidFill>
          <a:ln/>
        </p:spPr>
      </p:sp>
      <p:sp>
        <p:nvSpPr>
          <p:cNvPr id="9" name="Text 7"/>
          <p:cNvSpPr/>
          <p:nvPr/>
        </p:nvSpPr>
        <p:spPr>
          <a:xfrm>
            <a:off x="9265615" y="187452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Nessus, OpenVAS, AWVS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532888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53288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专项扫描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926080" y="2532888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针对 SQL 注入、XSS、CSRF、SSRF 等 OWASP Top 10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265615" y="2615184"/>
            <a:ext cx="2148840" cy="402336"/>
          </a:xfrm>
          <a:prstGeom prst="roundRect">
            <a:avLst>
              <a:gd name="adj" fmla="val 13636"/>
            </a:avLst>
          </a:prstGeom>
          <a:solidFill>
            <a:srgbClr val="DBEAFE"/>
          </a:solidFill>
          <a:ln/>
        </p:spPr>
      </p:sp>
      <p:sp>
        <p:nvSpPr>
          <p:cNvPr id="14" name="Text 12"/>
          <p:cNvSpPr/>
          <p:nvPr/>
        </p:nvSpPr>
        <p:spPr>
          <a:xfrm>
            <a:off x="9265615" y="2532888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Xray, Nuclei, Burp 主动扫描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191256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191256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弱口令爆破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926080" y="3191256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 SSH/RDP/MySQL/FTP/Web 后台等检测弱口令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265615" y="3273552"/>
            <a:ext cx="2148840" cy="402336"/>
          </a:xfrm>
          <a:prstGeom prst="roundRect">
            <a:avLst>
              <a:gd name="adj" fmla="val 13636"/>
            </a:avLst>
          </a:prstGeom>
          <a:solidFill>
            <a:srgbClr val="DBEAFE"/>
          </a:solidFill>
          <a:ln/>
        </p:spPr>
      </p:sp>
      <p:sp>
        <p:nvSpPr>
          <p:cNvPr id="19" name="Text 17"/>
          <p:cNvSpPr/>
          <p:nvPr/>
        </p:nvSpPr>
        <p:spPr>
          <a:xfrm>
            <a:off x="9265615" y="3191256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Hydra, Medusa, SuperWeakPass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849624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849624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手工验证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926080" y="3849624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对扫描结果逐条手工确认 —— 自动化误报率高，必须人工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265615" y="3931920"/>
            <a:ext cx="2148840" cy="402336"/>
          </a:xfrm>
          <a:prstGeom prst="roundRect">
            <a:avLst>
              <a:gd name="adj" fmla="val 13636"/>
            </a:avLst>
          </a:prstGeom>
          <a:solidFill>
            <a:srgbClr val="DBEAFE"/>
          </a:solidFill>
          <a:ln/>
        </p:spPr>
      </p:sp>
      <p:sp>
        <p:nvSpPr>
          <p:cNvPr id="24" name="Text 22"/>
          <p:cNvSpPr/>
          <p:nvPr/>
        </p:nvSpPr>
        <p:spPr>
          <a:xfrm>
            <a:off x="9265615" y="3849624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Burp Repeater, SQLMap, 手工 Payload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4754880"/>
            <a:ext cx="11094415" cy="1554480"/>
          </a:xfrm>
          <a:prstGeom prst="roundRect">
            <a:avLst>
              <a:gd name="adj" fmla="val 705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4937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关键原则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2960" y="5303520"/>
            <a:ext cx="108200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自动化扫描只是</a:t>
            </a:r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「捞鱼」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，手工验证才是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「确认鱼的大小和种类」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。需确认三点：①是否真存在漏洞（还是版本号匹配）②利用条件（需认证？特定参数？）③实际危害（能获取什么权限？）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—— 不验证的漏洞报告没有价值。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91153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04.5 · 渗透测试 / 阶段五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渗透攻击 — 获取初始访问权限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目标：利用已验证漏洞，获取目标系统初始访问权限（Initial Foothold）。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7452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漏洞利用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108960" y="1874520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注入拿数据/写 Webshell、文件上传绕过 getshell、SSRF 打内网、反序列化 RCE、SSTI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448495" y="1956816"/>
            <a:ext cx="1965960" cy="402336"/>
          </a:xfrm>
          <a:prstGeom prst="roundRect">
            <a:avLst>
              <a:gd name="adj" fmla="val 13636"/>
            </a:avLst>
          </a:prstGeom>
          <a:solidFill>
            <a:srgbClr val="FEE2E2"/>
          </a:solidFill>
          <a:ln/>
        </p:spPr>
      </p:sp>
      <p:sp>
        <p:nvSpPr>
          <p:cNvPr id="9" name="Text 7"/>
          <p:cNvSpPr/>
          <p:nvPr/>
        </p:nvSpPr>
        <p:spPr>
          <a:xfrm>
            <a:off x="9448495" y="187452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SQLMap, 蚁剑/冰蝎/哥斯拉, ysoserial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" y="2532888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53288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系统漏洞利用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108960" y="2532888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利用未修复 CVE（永恒之蓝 MS17-010、BlueKeep 等）直接获取系统权限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448495" y="2615184"/>
            <a:ext cx="1965960" cy="402336"/>
          </a:xfrm>
          <a:prstGeom prst="roundRect">
            <a:avLst>
              <a:gd name="adj" fmla="val 13636"/>
            </a:avLst>
          </a:prstGeom>
          <a:solidFill>
            <a:srgbClr val="FEE2E2"/>
          </a:solidFill>
          <a:ln/>
        </p:spPr>
      </p:sp>
      <p:sp>
        <p:nvSpPr>
          <p:cNvPr id="14" name="Text 12"/>
          <p:cNvSpPr/>
          <p:nvPr/>
        </p:nvSpPr>
        <p:spPr>
          <a:xfrm>
            <a:off x="9448495" y="2532888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Metasploit, Exploit-DB 脚本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8640" y="3191256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191256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弱口令/默认口令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108960" y="3191256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通过前期爆破或已知默认口令直接登录系统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448495" y="3273552"/>
            <a:ext cx="1965960" cy="402336"/>
          </a:xfrm>
          <a:prstGeom prst="roundRect">
            <a:avLst>
              <a:gd name="adj" fmla="val 13636"/>
            </a:avLst>
          </a:prstGeom>
          <a:solidFill>
            <a:srgbClr val="FEE2E2"/>
          </a:solidFill>
          <a:ln/>
        </p:spPr>
      </p:sp>
      <p:sp>
        <p:nvSpPr>
          <p:cNvPr id="19" name="Text 17"/>
          <p:cNvSpPr/>
          <p:nvPr/>
        </p:nvSpPr>
        <p:spPr>
          <a:xfrm>
            <a:off x="9448495" y="3191256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3849624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849624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钓鱼攻击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108960" y="3849624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构造钓鱼邮件/页面诱导员工点击，获取凭据或 Shell（大型红蓝对抗用）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448495" y="3931920"/>
            <a:ext cx="1965960" cy="402336"/>
          </a:xfrm>
          <a:prstGeom prst="roundRect">
            <a:avLst>
              <a:gd name="adj" fmla="val 13636"/>
            </a:avLst>
          </a:prstGeom>
          <a:solidFill>
            <a:srgbClr val="FEE2E2"/>
          </a:solidFill>
          <a:ln/>
        </p:spPr>
      </p:sp>
      <p:sp>
        <p:nvSpPr>
          <p:cNvPr id="24" name="Text 22"/>
          <p:cNvSpPr/>
          <p:nvPr/>
        </p:nvSpPr>
        <p:spPr>
          <a:xfrm>
            <a:off x="9448495" y="3849624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GoPhish, Cobalt Strike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8640" y="4507992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450799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近源攻击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108960" y="4507992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破解、物理接口接入、USB BadUSB 等（红蓝对抗场景）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448495" y="4590288"/>
            <a:ext cx="1965960" cy="402336"/>
          </a:xfrm>
          <a:prstGeom prst="roundRect">
            <a:avLst>
              <a:gd name="adj" fmla="val 13636"/>
            </a:avLst>
          </a:prstGeom>
          <a:solidFill>
            <a:srgbClr val="FEE2E2"/>
          </a:solidFill>
          <a:ln/>
        </p:spPr>
      </p:sp>
      <p:sp>
        <p:nvSpPr>
          <p:cNvPr id="29" name="Text 27"/>
          <p:cNvSpPr/>
          <p:nvPr/>
        </p:nvSpPr>
        <p:spPr>
          <a:xfrm>
            <a:off x="9448495" y="4507992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Aircrack-ng, Rubber Ducky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48640" y="52120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获取权限的常见形式：Webshell（命令执行型/文件管理型）· 反弹 Shell（nc/bash/powershell）· 远程桌面 RDP · SSH 密钥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91153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04.6 · 渗透测试 / 阶段六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后渗透利用 — 提权 / 横向移动 / 维持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目标：从突破点向更深处推进，扩大战果，提升权限，拿下核心目标。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49428" y="1874520"/>
            <a:ext cx="3611880" cy="402336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78028" y="2103120"/>
            <a:ext cx="3154680" cy="457200"/>
          </a:xfrm>
          <a:prstGeom prst="roundRect">
            <a:avLst>
              <a:gd name="adj" fmla="val 20000"/>
            </a:avLst>
          </a:prstGeom>
          <a:solidFill>
            <a:srgbClr val="FEE2E2"/>
          </a:solidFill>
          <a:ln/>
        </p:spPr>
      </p:sp>
      <p:sp>
        <p:nvSpPr>
          <p:cNvPr id="7" name="Text 5"/>
          <p:cNvSpPr/>
          <p:nvPr/>
        </p:nvSpPr>
        <p:spPr>
          <a:xfrm>
            <a:off x="678028" y="21031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权限提升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78028" y="27432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提权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78028" y="301752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内核漏洞(DirtyCow/Pipe)、SUID 滥用、sudo 漏洞、Cron 劫持、Docker 组提权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78028" y="37033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提权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78028" y="397764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内核漏洞、服务权限不当、AlwaysInstallElevated、UAC 绕过、Token 窃取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78028" y="46634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数据库提权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78028" y="493776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UDF/MOF 提权、SQL Server xp_cmdshell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289908" y="1874520"/>
            <a:ext cx="3611880" cy="402336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18508" y="2103120"/>
            <a:ext cx="3154680" cy="457200"/>
          </a:xfrm>
          <a:prstGeom prst="roundRect">
            <a:avLst>
              <a:gd name="adj" fmla="val 20000"/>
            </a:avLst>
          </a:prstGeom>
          <a:solidFill>
            <a:srgbClr val="DBEAFE"/>
          </a:solidFill>
          <a:ln/>
        </p:spPr>
      </p:sp>
      <p:sp>
        <p:nvSpPr>
          <p:cNvPr id="16" name="Text 14"/>
          <p:cNvSpPr/>
          <p:nvPr/>
        </p:nvSpPr>
        <p:spPr>
          <a:xfrm>
            <a:off x="4518508" y="21031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横向移动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18508" y="27432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凭据窃取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18508" y="301752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内存 dump 哈希、浏览器密码、配置文件明文密码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18508" y="37033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哈希传递 PtH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18508" y="397764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不破解密码，直接用 NTLM 哈希认证其他 Windows 主机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18508" y="46634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票据攻击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18508" y="493776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Kerberos 黄金/白银票据，伪造域控权限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18508" y="56235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RDP/WMI/PSExec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18508" y="58978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利用 Windows 远程管理协议跳板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130388" y="1874520"/>
            <a:ext cx="3611880" cy="402336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358988" y="2103120"/>
            <a:ext cx="3154680" cy="457200"/>
          </a:xfrm>
          <a:prstGeom prst="roundRect">
            <a:avLst>
              <a:gd name="adj" fmla="val 20000"/>
            </a:avLst>
          </a:prstGeom>
          <a:solidFill>
            <a:srgbClr val="FEF3C7"/>
          </a:solidFill>
          <a:ln/>
        </p:spPr>
      </p:sp>
      <p:sp>
        <p:nvSpPr>
          <p:cNvPr id="27" name="Text 25"/>
          <p:cNvSpPr/>
          <p:nvPr/>
        </p:nvSpPr>
        <p:spPr>
          <a:xfrm>
            <a:off x="8358988" y="21031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数据与维持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358988" y="27432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定位核心数据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358988" y="301752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数据库连接串、敏感文件、代码仓库、内部文档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358988" y="37033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数据外传测试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358988" y="397764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模拟外传，测试 DLP 与数据防泄露能力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358988" y="46634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持久化后门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358988" y="493776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计划任务/服务/注册表/SSH 公钥/WEB 后门（测试后必须清除）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358988" y="56235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痕迹清理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358988" y="58978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清除 Shell 历史、操作日志、上传文件（测试后执行）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091153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04.7 · 渗透测试 / 阶段七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报告撰写 — 成果转化为可落地方案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目标：将测试成果转化为可读、可落地的安全报告。报告质量直接决定测试价值。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1094415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20240"/>
            <a:ext cx="2194560" cy="777240"/>
          </a:xfrm>
          <a:prstGeom prst="roundRect">
            <a:avLst>
              <a:gd name="adj" fmla="val 9412"/>
            </a:avLst>
          </a:prstGeom>
          <a:solidFill>
            <a:srgbClr val="DCFCE7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202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概述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926080" y="1920240"/>
            <a:ext cx="8716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测试目标、范围、时间、测试类型（黑/白/灰盒）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807208"/>
            <a:ext cx="11094415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807208"/>
            <a:ext cx="2194560" cy="777240"/>
          </a:xfrm>
          <a:prstGeom prst="roundRect">
            <a:avLst>
              <a:gd name="adj" fmla="val 9412"/>
            </a:avLst>
          </a:prstGeom>
          <a:solidFill>
            <a:srgbClr val="DCFCE7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807208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漏洞清单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926080" y="2807208"/>
            <a:ext cx="8716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名称、CVSS 评分、风险等级、发现方式、复现步骤（截图+Payload）、危害说明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694176"/>
            <a:ext cx="11094415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694176"/>
            <a:ext cx="2194560" cy="777240"/>
          </a:xfrm>
          <a:prstGeom prst="roundRect">
            <a:avLst>
              <a:gd name="adj" fmla="val 9412"/>
            </a:avLst>
          </a:prstGeom>
          <a:solidFill>
            <a:srgbClr val="DCFCE7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694176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攻击链总结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926080" y="3694176"/>
            <a:ext cx="8716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从入口到核心目标的完整攻击路径梳理，让客户直观感受风险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581144"/>
            <a:ext cx="11094415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4581144"/>
            <a:ext cx="2194560" cy="777240"/>
          </a:xfrm>
          <a:prstGeom prst="roundRect">
            <a:avLst>
              <a:gd name="adj" fmla="val 9412"/>
            </a:avLst>
          </a:prstGeom>
          <a:solidFill>
            <a:srgbClr val="DCFCE7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581144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修复建议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926080" y="4581144"/>
            <a:ext cx="8716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按优先级排序：高危立即修、中危尽快修、低危择期修；每项给具体方案而非「加强安全配置」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5468112"/>
            <a:ext cx="11094415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5468112"/>
            <a:ext cx="2194560" cy="777240"/>
          </a:xfrm>
          <a:prstGeom prst="roundRect">
            <a:avLst>
              <a:gd name="adj" fmla="val 9412"/>
            </a:avLst>
          </a:prstGeom>
          <a:solidFill>
            <a:srgbClr val="DCFCE7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5468112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附录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2926080" y="5468112"/>
            <a:ext cx="8716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工具清单、Payload 列表、时间线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91153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代码审计流程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白盒审计 — 6 大阶段（通常 1~4 周）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60908" y="2377440"/>
            <a:ext cx="1554480" cy="1463040"/>
          </a:xfrm>
          <a:prstGeom prst="roundRect">
            <a:avLst>
              <a:gd name="adj" fmla="val 7500"/>
            </a:avLst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860908" y="25603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60908" y="32461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前期准备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 rot="5400000">
            <a:off x="2442820" y="2971800"/>
            <a:ext cx="164592" cy="274320"/>
          </a:xfrm>
          <a:prstGeom prst="rtTriangle">
            <a:avLst/>
          </a:prstGeom>
          <a:solidFill>
            <a:srgbClr val="94A3B8"/>
          </a:solidFill>
          <a:ln/>
        </p:spPr>
      </p:sp>
      <p:sp>
        <p:nvSpPr>
          <p:cNvPr id="8" name="Shape 6"/>
          <p:cNvSpPr/>
          <p:nvPr/>
        </p:nvSpPr>
        <p:spPr>
          <a:xfrm>
            <a:off x="2643988" y="2377440"/>
            <a:ext cx="1554480" cy="1463040"/>
          </a:xfrm>
          <a:prstGeom prst="roundRect">
            <a:avLst>
              <a:gd name="adj" fmla="val 7500"/>
            </a:avLst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2643988" y="25603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643988" y="32461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自动化扫描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 rot="5400000">
            <a:off x="4225900" y="2971800"/>
            <a:ext cx="164592" cy="274320"/>
          </a:xfrm>
          <a:prstGeom prst="rtTriangle">
            <a:avLst/>
          </a:prstGeom>
          <a:solidFill>
            <a:srgbClr val="94A3B8"/>
          </a:solidFill>
          <a:ln/>
        </p:spPr>
      </p:sp>
      <p:sp>
        <p:nvSpPr>
          <p:cNvPr id="12" name="Shape 10"/>
          <p:cNvSpPr/>
          <p:nvPr/>
        </p:nvSpPr>
        <p:spPr>
          <a:xfrm>
            <a:off x="4427068" y="2377440"/>
            <a:ext cx="1554480" cy="1463040"/>
          </a:xfrm>
          <a:prstGeom prst="roundRect">
            <a:avLst>
              <a:gd name="adj" fmla="val 7500"/>
            </a:avLst>
          </a:prstGeom>
          <a:solidFill>
            <a:srgbClr val="DC2626"/>
          </a:solidFill>
          <a:ln/>
        </p:spPr>
      </p:sp>
      <p:sp>
        <p:nvSpPr>
          <p:cNvPr id="13" name="Text 11"/>
          <p:cNvSpPr/>
          <p:nvPr/>
        </p:nvSpPr>
        <p:spPr>
          <a:xfrm>
            <a:off x="4427068" y="25603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427068" y="32461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人工审计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 rot="5400000">
            <a:off x="6008980" y="2971800"/>
            <a:ext cx="164592" cy="274320"/>
          </a:xfrm>
          <a:prstGeom prst="rtTriangle">
            <a:avLst/>
          </a:prstGeom>
          <a:solidFill>
            <a:srgbClr val="94A3B8"/>
          </a:solidFill>
          <a:ln/>
        </p:spPr>
      </p:sp>
      <p:sp>
        <p:nvSpPr>
          <p:cNvPr id="16" name="Shape 14"/>
          <p:cNvSpPr/>
          <p:nvPr/>
        </p:nvSpPr>
        <p:spPr>
          <a:xfrm>
            <a:off x="6210148" y="2377440"/>
            <a:ext cx="1554480" cy="1463040"/>
          </a:xfrm>
          <a:prstGeom prst="roundRect">
            <a:avLst>
              <a:gd name="adj" fmla="val 7500"/>
            </a:avLst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6210148" y="25603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210148" y="32461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漏洞验证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 rot="5400000">
            <a:off x="7792060" y="2971800"/>
            <a:ext cx="164592" cy="274320"/>
          </a:xfrm>
          <a:prstGeom prst="rtTriangle">
            <a:avLst/>
          </a:prstGeom>
          <a:solidFill>
            <a:srgbClr val="94A3B8"/>
          </a:solidFill>
          <a:ln/>
        </p:spPr>
      </p:sp>
      <p:sp>
        <p:nvSpPr>
          <p:cNvPr id="20" name="Shape 18"/>
          <p:cNvSpPr/>
          <p:nvPr/>
        </p:nvSpPr>
        <p:spPr>
          <a:xfrm>
            <a:off x="7993228" y="2377440"/>
            <a:ext cx="1554480" cy="1463040"/>
          </a:xfrm>
          <a:prstGeom prst="roundRect">
            <a:avLst>
              <a:gd name="adj" fmla="val 7500"/>
            </a:avLst>
          </a:prstGeom>
          <a:solidFill>
            <a:srgbClr val="16A34A"/>
          </a:solidFill>
          <a:ln/>
        </p:spPr>
      </p:sp>
      <p:sp>
        <p:nvSpPr>
          <p:cNvPr id="21" name="Text 19"/>
          <p:cNvSpPr/>
          <p:nvPr/>
        </p:nvSpPr>
        <p:spPr>
          <a:xfrm>
            <a:off x="7993228" y="25603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993228" y="32461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修复建议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 rot="5400000">
            <a:off x="9575140" y="2971800"/>
            <a:ext cx="164592" cy="274320"/>
          </a:xfrm>
          <a:prstGeom prst="rtTriangle">
            <a:avLst/>
          </a:prstGeom>
          <a:solidFill>
            <a:srgbClr val="94A3B8"/>
          </a:solidFill>
          <a:ln/>
        </p:spPr>
      </p:sp>
      <p:sp>
        <p:nvSpPr>
          <p:cNvPr id="24" name="Shape 22"/>
          <p:cNvSpPr/>
          <p:nvPr/>
        </p:nvSpPr>
        <p:spPr>
          <a:xfrm>
            <a:off x="9776308" y="2377440"/>
            <a:ext cx="1554480" cy="1463040"/>
          </a:xfrm>
          <a:prstGeom prst="roundRect">
            <a:avLst>
              <a:gd name="adj" fmla="val 7500"/>
            </a:avLst>
          </a:prstGeom>
          <a:solidFill>
            <a:srgbClr val="102240"/>
          </a:solidFill>
          <a:ln/>
        </p:spPr>
      </p:sp>
      <p:sp>
        <p:nvSpPr>
          <p:cNvPr id="25" name="Text 23"/>
          <p:cNvSpPr/>
          <p:nvPr/>
        </p:nvSpPr>
        <p:spPr>
          <a:xfrm>
            <a:off x="9776308" y="25603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9776308" y="32461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审计报告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8640" y="42976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前期准备 → 自动化扫描 → 人工审计 → 漏洞验证 → 修复建议 → 审计报告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14400" y="493776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人工审计是核心环节 —— 自动化工具只能发现「模式匹配」类漏洞（如危险函数），无法理解业务逻辑，误报率通常 30%~70%。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91153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05.1-2 · 代码审计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前期准备 + 自动化扫描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94960" cy="50292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45920"/>
            <a:ext cx="4937760" cy="502920"/>
          </a:xfrm>
          <a:prstGeom prst="roundRect">
            <a:avLst>
              <a:gd name="adj" fmla="val 18182"/>
            </a:avLst>
          </a:prstGeom>
          <a:solidFill>
            <a:srgbClr val="CFFAF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459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阶段一 · 前期准备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获取完整源码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26060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项目代码、依赖包、建表脚本、配置模板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31089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了解技术栈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33832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后端语言 / Web 框架 / ORM / 中间件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38862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了解业务架构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41605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功能模块、角色权限、API 调用、数据流向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46634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环境搭建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2960" y="49377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本地部署运行，可编译可调试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54406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明确审计范围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2960" y="57150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全量审计还是仅核心模块？是否含第三方依赖？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1417320"/>
            <a:ext cx="5425135" cy="50292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46520" y="1645920"/>
            <a:ext cx="4967935" cy="502920"/>
          </a:xfrm>
          <a:prstGeom prst="roundRect">
            <a:avLst>
              <a:gd name="adj" fmla="val 18182"/>
            </a:avLst>
          </a:prstGeom>
          <a:solidFill>
            <a:srgbClr val="DBEAFE"/>
          </a:solidFill>
          <a:ln/>
        </p:spPr>
      </p:sp>
      <p:sp>
        <p:nvSpPr>
          <p:cNvPr id="19" name="Text 17"/>
          <p:cNvSpPr/>
          <p:nvPr/>
        </p:nvSpPr>
        <p:spPr>
          <a:xfrm>
            <a:off x="6446520" y="1645920"/>
            <a:ext cx="49679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阶段二 · 自动化扫描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92240" y="2331720"/>
            <a:ext cx="4876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 扫描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92240" y="2606040"/>
            <a:ext cx="4876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静态应用安全测试，规则匹配漏洞模式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92240" y="2898648"/>
            <a:ext cx="4876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SonarQube, Fortify, Semgrep, CodeQL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492240" y="3291840"/>
            <a:ext cx="4876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 扫描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92240" y="3566160"/>
            <a:ext cx="4876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软件成分分析，检测第三方依赖 CVE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92240" y="3858768"/>
            <a:ext cx="4876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Dependency-Check, Snyk, Trivy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492240" y="4251960"/>
            <a:ext cx="4876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密钥扫描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492240" y="4526280"/>
            <a:ext cx="4876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扫描硬编码密码、API Key、Token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92240" y="4818888"/>
            <a:ext cx="4876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Gitleaks, TruffleHog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492240" y="5212080"/>
            <a:ext cx="4876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结果初筛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492240" y="5486400"/>
            <a:ext cx="4876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过滤误报(False Positive)，标记需人工分析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492240" y="5779008"/>
            <a:ext cx="4876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091153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05.3 · 代码审计 / 阶段三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人工审计 — 污点追踪（核心环节）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核心思想：追踪外部可控数据 Source → 经过的过滤函数 Sanitizer → 到达危险操作 Sink 的完整路径。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00888" y="201168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15288" y="2240280"/>
            <a:ext cx="1463040" cy="502920"/>
          </a:xfrm>
          <a:prstGeom prst="roundRect">
            <a:avLst>
              <a:gd name="adj" fmla="val 18182"/>
            </a:avLst>
          </a:prstGeom>
          <a:solidFill>
            <a:srgbClr val="FEE2E2"/>
          </a:solidFill>
          <a:ln/>
        </p:spPr>
      </p:sp>
      <p:sp>
        <p:nvSpPr>
          <p:cNvPr id="7" name="Text 5"/>
          <p:cNvSpPr/>
          <p:nvPr/>
        </p:nvSpPr>
        <p:spPr>
          <a:xfrm>
            <a:off x="1615288" y="22402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00888" y="2834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用户输入点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83768" y="32004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request.getParameter()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@RequestBody / Cookie / Header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992728" y="2011680"/>
            <a:ext cx="457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4449928" y="201168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364328" y="2240280"/>
            <a:ext cx="1463040" cy="502920"/>
          </a:xfrm>
          <a:prstGeom prst="roundRect">
            <a:avLst>
              <a:gd name="adj" fmla="val 18182"/>
            </a:avLst>
          </a:prstGeom>
          <a:solidFill>
            <a:srgbClr val="FEF3C7"/>
          </a:solidFill>
          <a:ln/>
        </p:spPr>
      </p:sp>
      <p:sp>
        <p:nvSpPr>
          <p:cNvPr id="13" name="Text 11"/>
          <p:cNvSpPr/>
          <p:nvPr/>
        </p:nvSpPr>
        <p:spPr>
          <a:xfrm>
            <a:off x="5364328" y="22402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Sanitizer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49928" y="2834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过滤 / 转义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32808" y="32004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ESAPI.encoder()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参数化查询 / 白名单校验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41768" y="2011680"/>
            <a:ext cx="457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8198968" y="201168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25400">
            <a:solidFill>
              <a:srgbClr val="10224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113368" y="2240280"/>
            <a:ext cx="1463040" cy="502920"/>
          </a:xfrm>
          <a:prstGeom prst="roundRect">
            <a:avLst>
              <a:gd name="adj" fmla="val 18182"/>
            </a:avLst>
          </a:prstGeom>
          <a:solidFill>
            <a:srgbClr val="F8FAFC"/>
          </a:solidFill>
          <a:ln/>
        </p:spPr>
      </p:sp>
      <p:sp>
        <p:nvSpPr>
          <p:cNvPr id="19" name="Text 17"/>
          <p:cNvSpPr/>
          <p:nvPr/>
        </p:nvSpPr>
        <p:spPr>
          <a:xfrm>
            <a:off x="9113368" y="22402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Sink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198968" y="2834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危险操作点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381848" y="32004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stmt.executeQuery()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Runtime.exec() / 文件操作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663440"/>
            <a:ext cx="11094415" cy="1554480"/>
          </a:xfrm>
          <a:prstGeom prst="roundRect">
            <a:avLst>
              <a:gd name="adj" fmla="val 7059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846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判定规则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2960" y="5212080"/>
            <a:ext cx="108200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如果 Source → Sink 路径上 </a:t>
            </a:r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「没有足够的 Sanitizer」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，就存在漏洞。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审计顺序策略：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先高危后低危（先找直接 getshell 的）  ② 先外部后内部（先 Controller/API 再 Service）  ③ 先功能点后全局（登录/上传/支付 → 全局过滤器）  ④ 正向+逆向结合（Controller→DAO 与 Sink→Controller）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91153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24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05.3 · 代码审计 / 阶段三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逐类漏洞审计要点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94415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1732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注入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743200" y="1417320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数据库查询语句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035040" y="1417320"/>
            <a:ext cx="560801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拼接 SQL 字符串，未使用参数化查询/ORM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1888236"/>
            <a:ext cx="11094415" cy="420624"/>
          </a:xfrm>
          <a:prstGeom prst="roundRect">
            <a:avLst>
              <a:gd name="adj" fmla="val 1087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88236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 跨站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743200" y="1888236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输出到 HTML/JS 的代码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035040" y="1888236"/>
            <a:ext cx="560801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未转义直接输出用户内容，innerHTML 赋值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359152"/>
            <a:ext cx="11094415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35915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命令注入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743200" y="2359152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调用系统命令处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035040" y="2359152"/>
            <a:ext cx="560801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Runtime.exec("ping " + ip) 未过滤参数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830068"/>
            <a:ext cx="11094415" cy="420624"/>
          </a:xfrm>
          <a:prstGeom prst="roundRect">
            <a:avLst>
              <a:gd name="adj" fmla="val 1087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2830068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文件上传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743200" y="2830068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文件上传功能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035040" y="2830068"/>
            <a:ext cx="560801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仅前端校验、黑名单可绕过、未限类型/大小/重命名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300984"/>
            <a:ext cx="11094415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300984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文件操作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743200" y="3300984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文件读/写/下载/删除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035040" y="3300984"/>
            <a:ext cx="560801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路径拼接导致目录穿越，任意文件读/写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771900"/>
            <a:ext cx="11094415" cy="420624"/>
          </a:xfrm>
          <a:prstGeom prst="roundRect">
            <a:avLst>
              <a:gd name="adj" fmla="val 1087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377190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反序列化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743200" y="3771900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ObjectInputStream / json 解析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035040" y="3771900"/>
            <a:ext cx="560801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不可信数据反序列化，未做类型白名单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4242816"/>
            <a:ext cx="11094415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4242816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SSRF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2743200" y="4242816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服务端发起 HTTP 请求处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035040" y="4242816"/>
            <a:ext cx="560801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参数可控且未限制访问目标（可打内网）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48640" y="4713732"/>
            <a:ext cx="11094415" cy="420624"/>
          </a:xfrm>
          <a:prstGeom prst="roundRect">
            <a:avLst>
              <a:gd name="adj" fmla="val 1087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" y="471373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XXE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2743200" y="4713732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解析处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035040" y="4713732"/>
            <a:ext cx="560801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未禁用外部实体解析（DTD/ENTITY）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5184648"/>
            <a:ext cx="11094415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5184648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权限绕过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2743200" y="5184648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越权访问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035040" y="5184648"/>
            <a:ext cx="560801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水平越权(IDOR) / 垂直越权未做角色校验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48640" y="5655564"/>
            <a:ext cx="11094415" cy="420624"/>
          </a:xfrm>
          <a:prstGeom prst="roundRect">
            <a:avLst>
              <a:gd name="adj" fmla="val 1087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" y="5655564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加密问题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2743200" y="5655564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加密/哈希/随机数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035040" y="5655564"/>
            <a:ext cx="560801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硬编码密钥、弱算法(MD5/DES/ECB)、不安全随机数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1091153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24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05.4-6 · 代码审计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漏洞验证 · 修复建议 · 审计报告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49428" y="1463040"/>
            <a:ext cx="3611880" cy="448056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78028" y="1691640"/>
            <a:ext cx="3154680" cy="502920"/>
          </a:xfrm>
          <a:prstGeom prst="roundRect">
            <a:avLst>
              <a:gd name="adj" fmla="val 18182"/>
            </a:avLst>
          </a:prstGeom>
          <a:solidFill>
            <a:srgbClr val="FEF3C7"/>
          </a:solidFill>
          <a:ln/>
        </p:spPr>
      </p:sp>
      <p:sp>
        <p:nvSpPr>
          <p:cNvPr id="6" name="Text 4"/>
          <p:cNvSpPr/>
          <p:nvPr/>
        </p:nvSpPr>
        <p:spPr>
          <a:xfrm>
            <a:off x="678028" y="16916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阶段四 · 漏洞验证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78028" y="23774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搭建测试环境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78028" y="26517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部署代码到测试环境，确保可访问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78028" y="32461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构造攻击向量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78028" y="352044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针对疑似漏洞构建具体 Payload 验证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78028" y="41148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确认漏洞可利用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78028" y="438912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验证是否真实存在、条件是否满足、危害程度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78028" y="49834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截图/录屏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78028" y="525780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记录完整复现过程作为证据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289908" y="1463040"/>
            <a:ext cx="3611880" cy="448056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18508" y="1691640"/>
            <a:ext cx="3154680" cy="502920"/>
          </a:xfrm>
          <a:prstGeom prst="roundRect">
            <a:avLst>
              <a:gd name="adj" fmla="val 18182"/>
            </a:avLst>
          </a:prstGeom>
          <a:solidFill>
            <a:srgbClr val="DBEAFE"/>
          </a:solidFill>
          <a:ln/>
        </p:spPr>
      </p:sp>
      <p:sp>
        <p:nvSpPr>
          <p:cNvPr id="17" name="Text 15"/>
          <p:cNvSpPr/>
          <p:nvPr/>
        </p:nvSpPr>
        <p:spPr>
          <a:xfrm>
            <a:off x="4518508" y="16916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阶段五 · 修复建议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18508" y="23774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代码级方案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18508" y="26517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不写「修复 SQL 注入」而写「第 X 行拼接 SQL 改为 PreparedStatement 参数化查询」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18508" y="32461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给出正反对比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18508" y="352044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错误写法 vs 正确写法，方便开发对照修改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18508" y="41148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风险评级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18508" y="438912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 CVSS 评分，标注危害等级与修复优先级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130388" y="1463040"/>
            <a:ext cx="3611880" cy="448056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358988" y="1691640"/>
            <a:ext cx="3154680" cy="502920"/>
          </a:xfrm>
          <a:prstGeom prst="roundRect">
            <a:avLst>
              <a:gd name="adj" fmla="val 18182"/>
            </a:avLst>
          </a:prstGeom>
          <a:solidFill>
            <a:srgbClr val="DCFCE7"/>
          </a:solidFill>
          <a:ln/>
        </p:spPr>
      </p:sp>
      <p:sp>
        <p:nvSpPr>
          <p:cNvPr id="26" name="Text 24"/>
          <p:cNvSpPr/>
          <p:nvPr/>
        </p:nvSpPr>
        <p:spPr>
          <a:xfrm>
            <a:off x="8358988" y="16916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阶段六 · 审计报告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358988" y="23774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报告结构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358988" y="26517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与渗透测试报告类似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358988" y="32461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代码定位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358988" y="352044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漏洞所在文件路径 + 行号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358988" y="41148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代码片段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358988" y="438912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代码片段截图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358988" y="49834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修复对比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358988" y="525780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修复前后对比代码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091153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24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漏洞挖掘流程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主动发现未知漏洞（0day）— 7 大阶段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一条完整的漏洞挖掘链通常需要数周到数月。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7424" y="2103120"/>
            <a:ext cx="1481328" cy="1463040"/>
          </a:xfrm>
          <a:prstGeom prst="roundRect">
            <a:avLst>
              <a:gd name="adj" fmla="val 7500"/>
            </a:avLst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417424" y="2286000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17424" y="2944368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选题定向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880464" y="2103120"/>
            <a:ext cx="20116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063344" y="2103120"/>
            <a:ext cx="1481328" cy="1463040"/>
          </a:xfrm>
          <a:prstGeom prst="roundRect">
            <a:avLst>
              <a:gd name="adj" fmla="val 7500"/>
            </a:avLst>
          </a:prstGeom>
          <a:solidFill>
            <a:srgbClr val="D97706"/>
          </a:solidFill>
          <a:ln/>
        </p:spPr>
      </p:sp>
      <p:sp>
        <p:nvSpPr>
          <p:cNvPr id="10" name="Text 8"/>
          <p:cNvSpPr/>
          <p:nvPr/>
        </p:nvSpPr>
        <p:spPr>
          <a:xfrm>
            <a:off x="2063344" y="2286000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063344" y="2944368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环境搭建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26384" y="2103120"/>
            <a:ext cx="20116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709264" y="2103120"/>
            <a:ext cx="1481328" cy="1463040"/>
          </a:xfrm>
          <a:prstGeom prst="roundRect">
            <a:avLst>
              <a:gd name="adj" fmla="val 7500"/>
            </a:avLst>
          </a:prstGeom>
          <a:solidFill>
            <a:srgbClr val="06B6D4"/>
          </a:solidFill>
          <a:ln/>
        </p:spPr>
      </p:sp>
      <p:sp>
        <p:nvSpPr>
          <p:cNvPr id="14" name="Text 12"/>
          <p:cNvSpPr/>
          <p:nvPr/>
        </p:nvSpPr>
        <p:spPr>
          <a:xfrm>
            <a:off x="3709264" y="2286000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709264" y="2944368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攻击面分析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172304" y="2103120"/>
            <a:ext cx="20116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355184" y="2103120"/>
            <a:ext cx="1481328" cy="1463040"/>
          </a:xfrm>
          <a:prstGeom prst="roundRect">
            <a:avLst>
              <a:gd name="adj" fmla="val 7500"/>
            </a:avLst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5355184" y="2286000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355184" y="2944368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方法选择执行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18224" y="2103120"/>
            <a:ext cx="20116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001104" y="2103120"/>
            <a:ext cx="1481328" cy="1463040"/>
          </a:xfrm>
          <a:prstGeom prst="roundRect">
            <a:avLst>
              <a:gd name="adj" fmla="val 7500"/>
            </a:avLst>
          </a:prstGeom>
          <a:solidFill>
            <a:srgbClr val="D97706"/>
          </a:solidFill>
          <a:ln/>
        </p:spPr>
      </p:sp>
      <p:sp>
        <p:nvSpPr>
          <p:cNvPr id="22" name="Text 20"/>
          <p:cNvSpPr/>
          <p:nvPr/>
        </p:nvSpPr>
        <p:spPr>
          <a:xfrm>
            <a:off x="7001104" y="2286000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7001104" y="2944368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异常捕获定位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464144" y="2103120"/>
            <a:ext cx="20116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647024" y="2103120"/>
            <a:ext cx="1481328" cy="1463040"/>
          </a:xfrm>
          <a:prstGeom prst="roundRect">
            <a:avLst>
              <a:gd name="adj" fmla="val 7500"/>
            </a:avLst>
          </a:prstGeom>
          <a:solidFill>
            <a:srgbClr val="DC2626"/>
          </a:solidFill>
          <a:ln/>
        </p:spPr>
      </p:sp>
      <p:sp>
        <p:nvSpPr>
          <p:cNvPr id="26" name="Text 24"/>
          <p:cNvSpPr/>
          <p:nvPr/>
        </p:nvSpPr>
        <p:spPr>
          <a:xfrm>
            <a:off x="8647024" y="2286000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8647024" y="2944368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PoC/EXP 开发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110064" y="2103120"/>
            <a:ext cx="20116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0292944" y="2103120"/>
            <a:ext cx="1481328" cy="1463040"/>
          </a:xfrm>
          <a:prstGeom prst="roundRect">
            <a:avLst>
              <a:gd name="adj" fmla="val 7500"/>
            </a:avLst>
          </a:prstGeom>
          <a:solidFill>
            <a:srgbClr val="16A34A"/>
          </a:solidFill>
          <a:ln/>
        </p:spPr>
      </p:sp>
      <p:sp>
        <p:nvSpPr>
          <p:cNvPr id="30" name="Text 28"/>
          <p:cNvSpPr/>
          <p:nvPr/>
        </p:nvSpPr>
        <p:spPr>
          <a:xfrm>
            <a:off x="10292944" y="2286000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10292944" y="2944368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漏洞披露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8640" y="40233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选题定向 → 环境搭建 → 攻击面分析 → 方法选择与执行 → 异常捕获与定位 → PoC/EXP 开发 → 漏洞披露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14400" y="4663440"/>
            <a:ext cx="103628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选题方向：新上线产品、大版本更新的流行框架、IoT 设备固件是热门。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技术路线：Web → 代码审计+黑盒 Fuzzing；二进制 → 逆向+Fuzzing；IoT → 固件提取+协议分析。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1091153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24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06.4 · 漏洞挖掘 / 阶段四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方法选择与执行 — 核心技术环节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选择哪种方法取决于目标类型和研究方向。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2377440" cy="713232"/>
          </a:xfrm>
          <a:prstGeom prst="roundRect">
            <a:avLst>
              <a:gd name="adj" fmla="val 10256"/>
            </a:avLst>
          </a:prstGeom>
          <a:solidFill>
            <a:srgbClr val="FEE2E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28800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模糊测试 Fuzzing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017520" y="182880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任何接受外部输入的程序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0" y="1828800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黑盒 AFL / 灰盒 AFL++（插桩覆盖率）/ 协议 Fuzzing / Web Fuzzing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875520" y="1901952"/>
            <a:ext cx="1676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AFL++, LibFuzzer, Peach, Burp Intruder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265176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651760"/>
            <a:ext cx="2377440" cy="713232"/>
          </a:xfrm>
          <a:prstGeom prst="roundRect">
            <a:avLst>
              <a:gd name="adj" fmla="val 10256"/>
            </a:avLst>
          </a:prstGeom>
          <a:solidFill>
            <a:srgbClr val="DBEAFE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651760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逆向分析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017520" y="265176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无源码的二进制程序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69280" y="2651760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静态：IDA/Ghidra 反汇编读伪代码，寻危险函数；动态：调试器下断点跟踪内存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875520" y="2724912"/>
            <a:ext cx="1676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IDA Pro, Ghidra, x64dbg, WinDbg, gdb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347472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474720"/>
            <a:ext cx="2377440" cy="713232"/>
          </a:xfrm>
          <a:prstGeom prst="roundRect">
            <a:avLst>
              <a:gd name="adj" fmla="val 10256"/>
            </a:avLst>
          </a:prstGeom>
          <a:solidFill>
            <a:srgbClr val="CFFAFE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474720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补丁对比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017520" y="347472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厂商刚发布安全补丁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69280" y="3474720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对比补丁前后二进制/源码差异 → 定位修复位置 → 逆向漏洞原理 → 利用未打补丁版本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875520" y="3547872"/>
            <a:ext cx="1676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Bindiff, Diaphora, IDA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" y="429768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297680"/>
            <a:ext cx="2377440" cy="713232"/>
          </a:xfrm>
          <a:prstGeom prst="roundRect">
            <a:avLst>
              <a:gd name="adj" fmla="val 10256"/>
            </a:avLst>
          </a:prstGeom>
          <a:solidFill>
            <a:srgbClr val="FEF3C7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297680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污点分析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017520" y="429768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有源码的目标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69280" y="4297680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将漏洞模式抽象为 QL 查询语句，自动追踪 Source→Sink 路径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875520" y="4370832"/>
            <a:ext cx="1676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CodeQL, Joern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8640" y="512064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5120640"/>
            <a:ext cx="2377440" cy="713232"/>
          </a:xfrm>
          <a:prstGeom prst="roundRect">
            <a:avLst>
              <a:gd name="adj" fmla="val 10256"/>
            </a:avLst>
          </a:prstGeom>
          <a:solidFill>
            <a:srgbClr val="DCFCE7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5120640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符号执行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017520" y="512064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探索深层执行路径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669280" y="5120640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输入符号化，约束求解遍历执行路径，发现常规测试无法触达的深层漏洞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875520" y="5193792"/>
            <a:ext cx="1676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angr, KLEE, S2E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91153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24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06.5-6 · 漏洞挖掘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异常捕获定位 + PoC/EXP 开发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50292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45920"/>
            <a:ext cx="5029200" cy="502920"/>
          </a:xfrm>
          <a:prstGeom prst="roundRect">
            <a:avLst>
              <a:gd name="adj" fmla="val 18182"/>
            </a:avLst>
          </a:prstGeom>
          <a:solidFill>
            <a:srgbClr val="FEF3C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459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阶段五 · 异常捕获与定位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崩溃监控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26060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监控进程崩溃（Seg Fault / Access Violation），收集样本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31089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崩溃分类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33832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判断类型：栈溢出、堆溢出、UAF、double-free、整数溢出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38862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崩溃去重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41605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多个样本可能同根因，按崩溃地址/调用栈哈希去重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46634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根因定位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2960" y="49377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调试器回放崩溃 → 定位崩溃点 → 追踪漏洞根因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54406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可利用性评估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2960" y="57150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可控 EIP/RIP？可控写操作？信息泄露？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09360" y="1417320"/>
            <a:ext cx="5333695" cy="50292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37960" y="1645920"/>
            <a:ext cx="4876495" cy="502920"/>
          </a:xfrm>
          <a:prstGeom prst="roundRect">
            <a:avLst>
              <a:gd name="adj" fmla="val 18182"/>
            </a:avLst>
          </a:prstGeom>
          <a:solidFill>
            <a:srgbClr val="FEE2E2"/>
          </a:solidFill>
          <a:ln/>
        </p:spPr>
      </p:sp>
      <p:sp>
        <p:nvSpPr>
          <p:cNvPr id="19" name="Text 17"/>
          <p:cNvSpPr/>
          <p:nvPr/>
        </p:nvSpPr>
        <p:spPr>
          <a:xfrm>
            <a:off x="6537960" y="1645920"/>
            <a:ext cx="48764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阶段六 · PoC 与 EXP 开发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83680" y="2331720"/>
            <a:ext cx="4785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(Proof of Concept)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583680" y="2606040"/>
            <a:ext cx="4785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证明漏洞存在的验证代码，只需触发崩溃/异常。用于提交 CVE。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583680" y="3154680"/>
            <a:ext cx="4785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(Exploit)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583680" y="3429000"/>
            <a:ext cx="47850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能实际利用漏洞执行代码的完整脚本，含 ROP 链/Shellcode。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583680" y="3977640"/>
            <a:ext cx="47850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0" y="4069080"/>
            <a:ext cx="4785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关键技术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583680" y="43891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栈溢出利用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321040" y="4389120"/>
            <a:ext cx="3047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覆盖返回地址 → ROP 链 → system/execve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583680" y="47731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堆利用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321040" y="4773168"/>
            <a:ext cx="3047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堆风水、Tcache poisoning、Fastbin attack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583680" y="5157216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ASLR 绕过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321040" y="5157216"/>
            <a:ext cx="3047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信息泄露获取基地址、partial overwrite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583680" y="554126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NX/DEP 绕过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321040" y="5541264"/>
            <a:ext cx="3047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ROP 或 mprotect 修改内存属性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583680" y="592531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CFG 绕过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321040" y="5925312"/>
            <a:ext cx="3047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Flow Guard —— 需更精巧的利用链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091153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24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06.7 · 漏洞挖掘 / 阶段七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漏洞披露 — 负责任的披露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目标：遵循「负责任的披露」原则，给厂商修复期后再公开细节。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45576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103120"/>
            <a:ext cx="411480" cy="41148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03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5880" y="2075688"/>
            <a:ext cx="444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联系厂商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06040"/>
            <a:ext cx="4907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通过漏洞奖励计划（Bug Bounty）或直接邮件联系厂商安全团队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87288" y="1874520"/>
            <a:ext cx="545576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15888" y="2103120"/>
            <a:ext cx="411480" cy="41148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2" name="Text 10"/>
          <p:cNvSpPr/>
          <p:nvPr/>
        </p:nvSpPr>
        <p:spPr>
          <a:xfrm>
            <a:off x="6415888" y="2103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964528" y="2075688"/>
            <a:ext cx="444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 申请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61608" y="2606040"/>
            <a:ext cx="4907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向 MITRE 申请 CVE 编号，获得全球统一漏洞标识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429000"/>
            <a:ext cx="545576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3657600"/>
            <a:ext cx="411480" cy="41148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657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25880" y="3630168"/>
            <a:ext cx="444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撰写漏洞报告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4160520"/>
            <a:ext cx="4907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详细漏洞描述、影响版本、复现步骤、修复建议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87288" y="3429000"/>
            <a:ext cx="545576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15888" y="3657600"/>
            <a:ext cx="411480" cy="41148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2" name="Text 20"/>
          <p:cNvSpPr/>
          <p:nvPr/>
        </p:nvSpPr>
        <p:spPr>
          <a:xfrm>
            <a:off x="6415888" y="3657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64528" y="3630168"/>
            <a:ext cx="444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披露时间线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61608" y="4160520"/>
            <a:ext cx="4907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遵循负责任披露 —— 给厂商 90 天修复期后再公开细节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4983480"/>
            <a:ext cx="545576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77240" y="5212080"/>
            <a:ext cx="411480" cy="41148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5212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325880" y="5184648"/>
            <a:ext cx="444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发表技术文章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22960" y="5715000"/>
            <a:ext cx="4907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在博客 / 安全会议上分享漏洞挖掘过程与技术心得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091153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24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业务关系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各业务之间的关系</a:t>
            </a:r>
            <a:endParaRPr lang="en-US" sz="3000" dirty="0"/>
          </a:p>
        </p:txBody>
      </p:sp>
      <p:pic>
        <p:nvPicPr>
          <p:cNvPr id="4" name="Image 0" descr="D:\Programs\blog-source\source\images\Gemini_Generated_Image_3dho7l3dho7l3dh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63040"/>
            <a:ext cx="5120640" cy="457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0807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网安业务关系图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035040" y="1463040"/>
            <a:ext cx="5608015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199632" y="1627632"/>
            <a:ext cx="274320" cy="2743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8" name="Text 5"/>
          <p:cNvSpPr/>
          <p:nvPr/>
        </p:nvSpPr>
        <p:spPr>
          <a:xfrm>
            <a:off x="6199632" y="16276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583680" y="1463040"/>
            <a:ext cx="4876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渗透测试 ↔ 代码审计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583680" y="1755648"/>
            <a:ext cx="48764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互补：黑盒从外攻击 + 白盒从内审查，覆盖更全面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035040" y="2139696"/>
            <a:ext cx="5608015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99632" y="2304288"/>
            <a:ext cx="274320" cy="27432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3" name="Text 10"/>
          <p:cNvSpPr/>
          <p:nvPr/>
        </p:nvSpPr>
        <p:spPr>
          <a:xfrm>
            <a:off x="6199632" y="23042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583680" y="2139696"/>
            <a:ext cx="4876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渗透测试 → 漏洞挖掘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583680" y="2432304"/>
            <a:ext cx="48764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进阶：工具扫不到的东西，进入漏洞挖掘领域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035040" y="2816352"/>
            <a:ext cx="5608015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199632" y="2980944"/>
            <a:ext cx="274320" cy="2743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8" name="Text 15"/>
          <p:cNvSpPr/>
          <p:nvPr/>
        </p:nvSpPr>
        <p:spPr>
          <a:xfrm>
            <a:off x="6199632" y="29809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583680" y="2816352"/>
            <a:ext cx="4876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渗透测试 → 红蓝对抗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583680" y="3108960"/>
            <a:ext cx="48764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升级：范围更广、时间更长、对抗更真实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035040" y="3493008"/>
            <a:ext cx="5608015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199632" y="3657600"/>
            <a:ext cx="274320" cy="27432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23" name="Text 20"/>
          <p:cNvSpPr/>
          <p:nvPr/>
        </p:nvSpPr>
        <p:spPr>
          <a:xfrm>
            <a:off x="6199632" y="3657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583680" y="3493008"/>
            <a:ext cx="4876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漏洞挖掘 → 实战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6583680" y="3785616"/>
            <a:ext cx="48764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支撑：0day 作为武器库供渗透/红蓝对抗使用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6035040" y="4169664"/>
            <a:ext cx="5608015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199632" y="4334256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8" name="Text 25"/>
          <p:cNvSpPr/>
          <p:nvPr/>
        </p:nvSpPr>
        <p:spPr>
          <a:xfrm>
            <a:off x="6199632" y="43342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583680" y="4169664"/>
            <a:ext cx="4876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SOC/应急/威胁情报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6583680" y="4462272"/>
            <a:ext cx="48764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日常铁三角：SOC 看家、应急救火、情报预警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6035040" y="4846320"/>
            <a:ext cx="5608015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199632" y="5010912"/>
            <a:ext cx="274320" cy="27432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3" name="Text 30"/>
          <p:cNvSpPr/>
          <p:nvPr/>
        </p:nvSpPr>
        <p:spPr>
          <a:xfrm>
            <a:off x="6199632" y="50109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6583680" y="4846320"/>
            <a:ext cx="4876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等保测评</a:t>
            </a:r>
            <a:endParaRPr lang="en-US" sz="1250" dirty="0"/>
          </a:p>
        </p:txBody>
      </p:sp>
      <p:sp>
        <p:nvSpPr>
          <p:cNvPr id="35" name="Text 32"/>
          <p:cNvSpPr/>
          <p:nvPr/>
        </p:nvSpPr>
        <p:spPr>
          <a:xfrm>
            <a:off x="6583680" y="5138928"/>
            <a:ext cx="48764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综合：含渗透+审计+风险评估，合规驱动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6035040" y="5522976"/>
            <a:ext cx="5608015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199632" y="5687568"/>
            <a:ext cx="274320" cy="27432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8" name="Text 35"/>
          <p:cNvSpPr/>
          <p:nvPr/>
        </p:nvSpPr>
        <p:spPr>
          <a:xfrm>
            <a:off x="6199632" y="5687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6583680" y="5522976"/>
            <a:ext cx="4876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 / DevSecOps</a:t>
            </a:r>
            <a:endParaRPr lang="en-US" sz="1250" dirty="0"/>
          </a:p>
        </p:txBody>
      </p:sp>
      <p:sp>
        <p:nvSpPr>
          <p:cNvPr id="40" name="Text 37"/>
          <p:cNvSpPr/>
          <p:nvPr/>
        </p:nvSpPr>
        <p:spPr>
          <a:xfrm>
            <a:off x="6583680" y="5815584"/>
            <a:ext cx="48764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左移：将安全嵌入开发，从源头减少漏洞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1091153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24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72888" y="1645920"/>
            <a:ext cx="457200" cy="365760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/>
        </p:spPr>
      </p:sp>
      <p:sp>
        <p:nvSpPr>
          <p:cNvPr id="3" name="Shape 1"/>
          <p:cNvSpPr/>
          <p:nvPr/>
        </p:nvSpPr>
        <p:spPr>
          <a:xfrm>
            <a:off x="5912968" y="1645920"/>
            <a:ext cx="457200" cy="36576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6553048" y="1645920"/>
            <a:ext cx="457200" cy="365760"/>
          </a:xfrm>
          <a:prstGeom prst="roundRect">
            <a:avLst>
              <a:gd name="adj" fmla="val 20000"/>
            </a:avLst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8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112772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网络安全业务 · 全景速览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4998568" y="3977640"/>
            <a:ext cx="219456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16052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红队  ·  蓝队  ·  合规  ·  开发安全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84632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攻击者思维 + 防御者视角 + 合规底线 + 安全左移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566928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渗透测试 · 代码审计 · 漏洞挖掘 · 红蓝对抗 · SOC · 应急响应 · 威胁情报 · 等保 · SDL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网络安全业务快速入门</dc:title>
  <dc:subject>PptxGenJS Presentation</dc:subject>
  <dc:creator>网络安全业务</dc:creator>
  <cp:lastModifiedBy>网络安全业务</cp:lastModifiedBy>
  <cp:revision>1</cp:revision>
  <dcterms:created xsi:type="dcterms:W3CDTF">2026-07-13T07:13:13Z</dcterms:created>
  <dcterms:modified xsi:type="dcterms:W3CDTF">2026-07-13T07:13:13Z</dcterms:modified>
</cp:coreProperties>
</file>